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6.xml"/><Relationship Id="rId22" Type="http://schemas.openxmlformats.org/officeDocument/2006/relationships/font" Target="fonts/Urbanist-italic.fntdata"/><Relationship Id="rId10" Type="http://schemas.openxmlformats.org/officeDocument/2006/relationships/slide" Target="slides/slide5.xml"/><Relationship Id="rId21" Type="http://schemas.openxmlformats.org/officeDocument/2006/relationships/font" Target="fonts/Urbanis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SemiBold-boldItalic.fntdata"/><Relationship Id="rId6" Type="http://schemas.openxmlformats.org/officeDocument/2006/relationships/slide" Target="slides/slide1.xml"/><Relationship Id="rId18" Type="http://schemas.openxmlformats.org/officeDocument/2006/relationships/font" Target="fonts/Urbanist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5.png"/><Relationship Id="rId13" Type="http://schemas.openxmlformats.org/officeDocument/2006/relationships/image" Target="../media/image23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4.png"/><Relationship Id="rId6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9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25.png"/><Relationship Id="rId8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47998"/>
            <a:ext cx="11601450" cy="20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Implementación de Data Warehouse y BI: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Macroentorno Ecuador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4049910"/>
            <a:ext cx="11049000" cy="959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 datos crudos a decisiones estratégicas.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Autor:</a:t>
            </a: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Lucas Dario Jumbo Granda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El </a:t>
            </a: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Problema</a:t>
            </a: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de Origen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857250" y="19106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Fuentes Desconectadas: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Los datos abiertos del MINEDUC, Supercias y Banco Central son silos de información aislados.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57250" y="29774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Estructuras Heterogéneas: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Archivos en Excel/CSV con formatos distintos, columnas renombradas de un año a otro y fechas inconsistentes.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57250" y="40442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Calidad de Datos: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Alta presencia de valores nulos (NaN) y falta de integridad referencial.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857250" y="48062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Impacto en Negocio: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Informes estáticos, decisiones tardías y altísimo riesgo de sacar conclusiones cruzadas erróneas.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19487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0155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0823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48443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0" y="381089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749" y="571500"/>
            <a:ext cx="4170526" cy="45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4227" y="1948750"/>
            <a:ext cx="3667676" cy="4599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Arquitectura ETL y </a:t>
            </a: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Stack Tecnológico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57250" y="20630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Extracción (Python):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Scripts usando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Pandas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ingestar, parsear y transformar los CSV/Excel en DataFrames.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57250" y="28250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Almacenamiento (PostgreSQL):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Motor relacional robusto configurado con esquemas escalonados (Raw, Silver, Gold).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7250" y="38918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Virtualización (Docker):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Contenerización de la base de datos y la herramienta de BI para garantizar reproducibilidad.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57250" y="49586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Pipeline Desacoplado: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 procesamiento pesado se realiza en la base de datos, no en la herramienta visual.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21011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571500" y="28631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39299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49967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8662" y="381089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1888" y="2678473"/>
            <a:ext cx="5638467" cy="241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43980"/>
            <a:ext cx="2547937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5187" y="1843980"/>
            <a:ext cx="2547937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43980"/>
            <a:ext cx="2547937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2562" y="1843980"/>
            <a:ext cx="2547937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Capa Silver: </a:t>
            </a: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Limpieza y Estandarización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18688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914400" y="3044130"/>
            <a:ext cx="195524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1. Perfilado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14400" y="3491805"/>
            <a:ext cx="1862137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Auditoría inicial de los DataFrames en Python para identificar columnas clave, detectar tipos de datos erróneos y reconocer patrones.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748087" y="218688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3748087" y="3044130"/>
            <a:ext cx="195524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2. Limpieza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3748087" y="3491805"/>
            <a:ext cx="1862137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Imputación o eliminación estricta de valores nulos (NaN) y normalización de formatos críticos como fechas e ingresos.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81775" y="218688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6581775" y="3044130"/>
            <a:ext cx="195524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3. Estandarización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581775" y="3796605"/>
            <a:ext cx="18621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Renombrado consistente de columnas (snake_case) y mapeo de catálogos de referencia (ej. homologación de provincias).</a:t>
            </a:r>
            <a:endParaRPr sz="1300"/>
          </a:p>
        </p:txBody>
      </p:sp>
      <p:pic>
        <p:nvPicPr>
          <p:cNvPr descr="image.png" id="137" name="Google Shape;13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15462" y="2186880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9415462" y="3044130"/>
            <a:ext cx="195524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4. Carga Controlada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9415462" y="3796605"/>
            <a:ext cx="1862137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Inserción estructurada mediante SQLAlchemy hacia el esquema Silver de PostgreSQL, preparando la data para su modelado.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71562" y="234404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86200" y="234404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719887" y="2344042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591675" y="2344042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Capa Gold: </a:t>
            </a: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Modelado Dimensional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213925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 construyó un modelo de negocio en esquema de estrella (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Star Schema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) diseñado para consultas analíticas instantáneas: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57250" y="32441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Dimensiones Clave: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Geográfica (Provincias/Cantones), Educativa (Instituciones) y Empresarial (Sectores).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57250" y="4006155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Tablas de Hechos: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Egresos, indicadores de empleabilidad y registro de ingresos de compañías.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57250" y="4768155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Vistas Materializadas: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 implementaron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SQL Views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complejas para cruzar datos demográficos y económicos sin productos cartesianos.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32822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40442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4806255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0562" y="381089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title="Untitled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38425" y="1721588"/>
            <a:ext cx="4925399" cy="4340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71500"/>
            <a:ext cx="5550693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Despliegue de BI: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Metabase</a:t>
            </a:r>
            <a:endParaRPr/>
          </a:p>
        </p:txBody>
      </p:sp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571500" y="2702123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 Reportes a Dashboards Interactivos</a:t>
            </a:r>
            <a:endParaRPr/>
          </a:p>
        </p:txBody>
      </p:sp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34803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57250" y="3340298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Conexión nativa y directa a la Capa Gold de PostgreSQL.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57250" y="3797498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Generación de series temporales combinadas, gráficos de dispersión ponderados y rankings automatizados.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857250" y="4559498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Implementación de </a:t>
            </a: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Filtros Globales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(Año y Provincia) vinculados a todas las tarjetas para drill-down en tiempo real.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337839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71500" y="383559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4597598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6">
            <a:alphaModFix/>
          </a:blip>
          <a:srcRect b="0" l="28853" r="13091" t="0"/>
          <a:stretch/>
        </p:blipFill>
        <p:spPr>
          <a:xfrm>
            <a:off x="6334124" y="0"/>
            <a:ext cx="5857874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/>
        </p:nvSpPr>
        <p:spPr>
          <a:xfrm>
            <a:off x="571500" y="407789"/>
            <a:ext cx="11601450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Dashboard Fase 1: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Macroentorno Económico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271641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Pregunta Estratégica: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¿Cuál ha sido la evolución de la economía ecuatoriana y su ciclo macroeconómico reciente?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57250" y="351651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Tendencia del PIB: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Seguimiento histórico del PIB per cápita (USD) para identificar etapas de crecimiento y recesión.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57250" y="427851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Cálculo Dinámico: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La variación interanual porcentual se procesa directamente en PostgreSQL en la Capa Gold.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857250" y="504051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Impacto: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Establece el contexto base. Si la macroeconomía cae, se explica la contracción en contrataciones futuras.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35546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71500" y="43166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71500" y="50786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6262" y="408324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73737" y="1936350"/>
            <a:ext cx="4854776" cy="445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/>
          <p:nvPr/>
        </p:nvSpPr>
        <p:spPr>
          <a:xfrm>
            <a:off x="571500" y="407789"/>
            <a:ext cx="11601450" cy="10894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Dashboard Fase 2: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Concentración y Desempleo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225921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Pregunta Estratégica: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¿En qué provincias se concentra la riqueza empresarial y cómo contrasta con el desempleo nacional?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857250" y="336411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Concentración de Riqueza: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Gráfico de barras demostrando el oligopolio de ingresos concentrado en Guayas y Pichincha.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57250" y="443091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Realidad Laboral: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Monitor histórico de la Tasa de Desempleo Nacional con su respectivo KPI porcentual.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57250" y="519291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Contraste Visual: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Permite observar la profunda desconexión entre el alto ingreso de pocos sectores y la crisis de empleo general.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34022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44690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5231010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77212" y="4083248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5663" y="1780888"/>
            <a:ext cx="3650925" cy="475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71500" y="571500"/>
            <a:ext cx="5550693" cy="16341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Dashboard Fase 3: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Análisis de Brecha Laboral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71500" y="2586625"/>
            <a:ext cx="6294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Pregunta Estratégica: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¿Qué provincias presentan una fuga de talentos crítica y dónde debe actuar la universidad?</a:t>
            </a:r>
            <a:endParaRPr/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43912" y="3417391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857250" y="3634263"/>
            <a:ext cx="600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Matriz de Oportunidad: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Gráfico de dispersión que cruza el volumen de bachilleres con la densidad de empresas activas.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57250" y="4472463"/>
            <a:ext cx="600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Ranking de Déficit: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Tabla interactiva purgada de nulos que expone a las provincias con el mayor ratio de Estudiante/Empresa.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857250" y="5310675"/>
            <a:ext cx="600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Interactividad: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Filtros globales integrados de Provincia y Año para segmentar el análisis en tiempo real.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356770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463450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571500" y="5701307"/>
            <a:ext cx="1714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▶</a:t>
            </a:r>
            <a:endParaRPr/>
          </a:p>
        </p:txBody>
      </p:sp>
      <p:pic>
        <p:nvPicPr>
          <p:cNvPr id="216" name="Google Shape;21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1784" y="0"/>
            <a:ext cx="509020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72542"/>
            <a:ext cx="336545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1772542"/>
            <a:ext cx="3365450" cy="423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54900" y="1772542"/>
            <a:ext cx="3365450" cy="423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Conclusiones y </a:t>
            </a:r>
            <a:r>
              <a:rPr b="0" i="0" lang="en-US" sz="39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Valor de Negocio</a:t>
            </a:r>
            <a:endParaRPr/>
          </a:p>
        </p:txBody>
      </p:sp>
      <p:pic>
        <p:nvPicPr>
          <p:cNvPr descr="image.png" id="226" name="Google Shape;226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21069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1009650" y="3067942"/>
            <a:ext cx="26136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A78BF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Hallazgo Principal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1009650" y="3515617"/>
            <a:ext cx="2489100" cy="19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dashboard reveló un fenómeno de </a:t>
            </a:r>
            <a:r>
              <a:rPr b="1" i="0" lang="en-US" sz="12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"Fuga de Talentos"</a:t>
            </a:r>
            <a:r>
              <a:rPr b="0" i="0" lang="en-US" sz="12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Al cruzar el volumen de bachilleres con la densidad empresarial, identificamos provincias con miles de estudiantes pero un tejido empresarial casi nulo.</a:t>
            </a:r>
            <a:endParaRPr sz="1300"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1350" y="221069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2"/>
          <p:cNvSpPr txBox="1"/>
          <p:nvPr/>
        </p:nvSpPr>
        <p:spPr>
          <a:xfrm>
            <a:off x="4851350" y="3067942"/>
            <a:ext cx="26136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Estrategia Accionable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4851350" y="3515617"/>
            <a:ext cx="2489100" cy="19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Esta matriz brinda a la universidad las coordenadas exactas de mercados desatendidos, permitiendo dirigir campañas de captación a zonas con alta necesidad de formación superior y especialización.</a:t>
            </a:r>
            <a:endParaRPr sz="1300"/>
          </a:p>
        </p:txBody>
      </p:sp>
      <p:pic>
        <p:nvPicPr>
          <p:cNvPr descr="image.png" id="232" name="Google Shape;232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93050" y="2210692"/>
            <a:ext cx="6191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 txBox="1"/>
          <p:nvPr/>
        </p:nvSpPr>
        <p:spPr>
          <a:xfrm>
            <a:off x="8693050" y="3067942"/>
            <a:ext cx="261360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717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Ventaja Competitiva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693050" y="3515617"/>
            <a:ext cx="2489150" cy="1543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proyecto demuestra cómo un </a:t>
            </a:r>
            <a:r>
              <a:rPr b="1" i="0" lang="en-US" sz="135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 Warehouse gobernado</a:t>
            </a: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convierte la dispersión de datos públicos en inteligencia táctica, escalable y automatizable para instituciones educativas.</a:t>
            </a:r>
            <a:endParaRPr/>
          </a:p>
        </p:txBody>
      </p:sp>
      <p:pic>
        <p:nvPicPr>
          <p:cNvPr descr="image.png" id="235" name="Google Shape;235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04912" y="2367855"/>
            <a:ext cx="2286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08512" y="236785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850213" y="2367855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