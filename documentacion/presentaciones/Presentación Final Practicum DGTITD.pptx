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1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6008167" name="Google Shape;3;n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563324" name="Google Shape;4;n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8115609" name="Google Shape;81;p1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39197232" name="Google Shape;82;p1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0340351" name="Google Shape;88;p2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57509154" name="Google Shape;89;p2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2704700" name="Google Shape;104;p3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127682386" name="Google Shape;105;p3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8064715" name="Google Shape;130;p4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85766487" name="Google Shape;131;p4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1194999" name="Google Shape;142;p5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69157052" name="Google Shape;143;p5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705010" name="Google Shape;157;p6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44457912" name="Google Shape;158;p6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9786159" name="Google Shape;179;p7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34566362" name="Google Shape;180;p7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108416" name="Google Shape;187;g3f3be6f59d7_0_7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686959226" name="Google Shape;188;g3f3be6f59d7_0_7:notes"/>
          <p:cNvSpPr/>
          <p:nvPr>
            <p:ph type="sldImg" idx="2"/>
          </p:nvPr>
        </p:nvSpPr>
        <p:spPr bwMode="auto"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433776" name="Google Shape;12;p2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11607073" name="Google Shape;13;p2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2562858" name="Google Shape;14;p2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561353" name="Google Shape;16;p3"/>
          <p:cNvSpPr txBox="1"/>
          <p:nvPr>
            <p:ph type="ctrTitle"/>
          </p:nvPr>
        </p:nvSpPr>
        <p:spPr bwMode="auto"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28168208" name="Google Shape;17;p3"/>
          <p:cNvSpPr txBox="1"/>
          <p:nvPr>
            <p:ph type="subTitle" idx="1"/>
          </p:nvPr>
        </p:nvSpPr>
        <p:spPr bwMode="auto">
          <a:xfrm>
            <a:off x="1371600" y="3886200"/>
            <a:ext cx="6400800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163080208" name="Google Shape;18;p3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09851648" name="Google Shape;19;p3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40263343" name="Google Shape;20;p3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Content" preserve="0" showMasterPhAnim="0" showMasterSp="1" type="obj" userDrawn="1">
  <p:cSld name="OBJEC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4684124" name="Google Shape;22;p4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15025727" name="Google Shape;23;p4"/>
          <p:cNvSpPr txBox="1"/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13519326" name="Google Shape;24;p4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13574314" name="Google Shape;25;p4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17435514" name="Google Shape;26;p4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showMasterSp="1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160804" name="Google Shape;28;p5"/>
          <p:cNvSpPr txBox="1"/>
          <p:nvPr>
            <p:ph type="title"/>
          </p:nvPr>
        </p:nvSpPr>
        <p:spPr bwMode="auto"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34771105" name="Google Shape;29;p5"/>
          <p:cNvSpPr txBox="1"/>
          <p:nvPr>
            <p:ph type="body" idx="1"/>
          </p:nvPr>
        </p:nvSpPr>
        <p:spPr bwMode="auto"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037749417" name="Google Shape;30;p5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34195056" name="Google Shape;31;p5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73625630" name="Google Shape;32;p5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wo Content" preserve="0" showMasterPhAnim="0" showMasterSp="1" type="twoObj" userDrawn="1">
  <p:cSld name="TWO_OBJEC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3593864" name="Google Shape;34;p6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08426555" name="Google Shape;35;p6"/>
          <p:cNvSpPr txBox="1"/>
          <p:nvPr>
            <p:ph type="body" idx="1"/>
          </p:nvPr>
        </p:nvSpPr>
        <p:spPr bwMode="auto"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143309897" name="Google Shape;36;p6"/>
          <p:cNvSpPr txBox="1"/>
          <p:nvPr>
            <p:ph type="body" idx="2"/>
          </p:nvPr>
        </p:nvSpPr>
        <p:spPr bwMode="auto"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657445824" name="Google Shape;37;p6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91425291" name="Google Shape;38;p6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21550158" name="Google Shape;39;p6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mparison" preserve="0" showMasterPhAnim="0" showMasterSp="1" type="twoTxTwoObj" userDrawn="1">
  <p:cSld name="TWO_OBJECTS_WITH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745068" name="Google Shape;41;p7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0396440" name="Google Shape;42;p7"/>
          <p:cNvSpPr txBox="1"/>
          <p:nvPr>
            <p:ph type="body" idx="1"/>
          </p:nvPr>
        </p:nvSpPr>
        <p:spPr bwMode="auto"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1464315285" name="Google Shape;43;p7"/>
          <p:cNvSpPr txBox="1"/>
          <p:nvPr>
            <p:ph type="body" idx="2"/>
          </p:nvPr>
        </p:nvSpPr>
        <p:spPr bwMode="auto"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2019396234" name="Google Shape;44;p7"/>
          <p:cNvSpPr txBox="1"/>
          <p:nvPr>
            <p:ph type="body" idx="3"/>
          </p:nvPr>
        </p:nvSpPr>
        <p:spPr bwMode="auto"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2013473860" name="Google Shape;45;p7"/>
          <p:cNvSpPr txBox="1"/>
          <p:nvPr>
            <p:ph type="body" idx="4"/>
          </p:nvPr>
        </p:nvSpPr>
        <p:spPr bwMode="auto"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751550622" name="Google Shape;46;p7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2779481" name="Google Shape;47;p7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98534386" name="Google Shape;48;p7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0547417" name="Google Shape;50;p8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30090996" name="Google Shape;51;p8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33423328" name="Google Shape;52;p8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98354401" name="Google Shape;53;p8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ntent with Caption" preserve="0" showMasterPhAnim="0" showMasterSp="1" type="objTx" userDrawn="1">
  <p:cSld name="OBJECT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836037" name="Google Shape;55;p9"/>
          <p:cNvSpPr txBox="1"/>
          <p:nvPr>
            <p:ph type="title"/>
          </p:nvPr>
        </p:nvSpPr>
        <p:spPr bwMode="auto"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28752932" name="Google Shape;56;p9"/>
          <p:cNvSpPr txBox="1"/>
          <p:nvPr>
            <p:ph type="body" idx="1"/>
          </p:nvPr>
        </p:nvSpPr>
        <p:spPr bwMode="auto"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799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568558646" name="Google Shape;57;p9"/>
          <p:cNvSpPr txBox="1"/>
          <p:nvPr>
            <p:ph type="body" idx="2"/>
          </p:nvPr>
        </p:nvSpPr>
        <p:spPr bwMode="auto"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>
              <a:defRPr/>
            </a:pPr>
            <a:endParaRPr/>
          </a:p>
        </p:txBody>
      </p:sp>
      <p:sp>
        <p:nvSpPr>
          <p:cNvPr id="1994714438" name="Google Shape;58;p9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57137975" name="Google Shape;59;p9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26674900" name="Google Shape;60;p9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icture with Caption" preserve="0" showMasterPhAnim="0" showMasterSp="1" type="picTx" userDrawn="1">
  <p:cSld name="PICTURE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581572" name="Google Shape;62;p10"/>
          <p:cNvSpPr txBox="1"/>
          <p:nvPr>
            <p:ph type="title"/>
          </p:nvPr>
        </p:nvSpPr>
        <p:spPr bwMode="auto"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59775882" name="Google Shape;63;p10"/>
          <p:cNvSpPr/>
          <p:nvPr>
            <p:ph type="pic" idx="2"/>
          </p:nvPr>
        </p:nvSpPr>
        <p:spPr bwMode="auto"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17878401" name="Google Shape;64;p10"/>
          <p:cNvSpPr txBox="1"/>
          <p:nvPr>
            <p:ph type="body" idx="1"/>
          </p:nvPr>
        </p:nvSpPr>
        <p:spPr bwMode="auto"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>
              <a:defRPr/>
            </a:pPr>
            <a:endParaRPr/>
          </a:p>
        </p:txBody>
      </p:sp>
      <p:sp>
        <p:nvSpPr>
          <p:cNvPr id="1322251868" name="Google Shape;65;p10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31545168" name="Google Shape;66;p10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93470329" name="Google Shape;67;p10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Vertical Text" preserve="0" showMasterPhAnim="0" showMasterSp="1" type="vertTx" userDrawn="1">
  <p:cSld name="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7058130" name="Google Shape;69;p11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67497170" name="Google Shape;70;p11"/>
          <p:cNvSpPr txBox="1"/>
          <p:nvPr>
            <p:ph type="body" idx="1"/>
          </p:nvPr>
        </p:nvSpPr>
        <p:spPr bwMode="auto"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35516383" name="Google Shape;71;p11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80211092" name="Google Shape;72;p11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91253573" name="Google Shape;73;p11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Vertical Title and Text" preserve="0" showMasterPhAnim="0" showMasterSp="1" type="vertTitleAndTx" userDrawn="1">
  <p:cSld name="VERTICAL_TITLE_AND_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6082292" name="Google Shape;75;p12"/>
          <p:cNvSpPr txBox="1"/>
          <p:nvPr>
            <p:ph type="title"/>
          </p:nvPr>
        </p:nvSpPr>
        <p:spPr bwMode="auto"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15281221" name="Google Shape;76;p12"/>
          <p:cNvSpPr txBox="1"/>
          <p:nvPr>
            <p:ph type="body" idx="1"/>
          </p:nvPr>
        </p:nvSpPr>
        <p:spPr bwMode="auto"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91302802" name="Google Shape;77;p12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7321989" name="Google Shape;78;p12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58900000" name="Google Shape;79;p12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8269386" name="Google Shape;6;p1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92596349" name="Google Shape;7;p1"/>
          <p:cNvSpPr txBox="1"/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799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126301212" name="Google Shape;8;p1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70701782" name="Google Shape;9;p1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396083773" name="Google Shape;10;p1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11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9234435" name="Google Shape;84;p13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8018503" name="Google Shape;85;p13"/>
          <p:cNvSpPr txBox="1"/>
          <p:nvPr/>
        </p:nvSpPr>
        <p:spPr bwMode="auto">
          <a:xfrm>
            <a:off x="238125" y="1714500"/>
            <a:ext cx="1171575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8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49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</a:rPr>
              <a:t>Data Warehouse UTPL: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</a:br>
            <a:r>
              <a:rPr lang="en-US" sz="49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</a:rPr>
              <a:t> Análisis del </a:t>
            </a:r>
            <a:r>
              <a:rPr lang="en-US" sz="49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</a:rPr>
              <a:t>Macroentorno</a:t>
            </a:r>
            <a:endParaRPr/>
          </a:p>
        </p:txBody>
      </p:sp>
      <p:sp>
        <p:nvSpPr>
          <p:cNvPr id="2017135435" name="Google Shape;86;p13"/>
          <p:cNvSpPr txBox="1"/>
          <p:nvPr/>
        </p:nvSpPr>
        <p:spPr bwMode="auto">
          <a:xfrm>
            <a:off x="476250" y="3902175"/>
            <a:ext cx="112395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50" b="0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</a:rPr>
              <a:t>E</a:t>
            </a:r>
            <a:r>
              <a:rPr lang="en-US" sz="1650" b="0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</a:rPr>
              <a:t>xpositor: Lucas Darío Jumbo Granda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</a:br>
            <a:r>
              <a:rPr lang="en-US" sz="1650" b="0" i="0" u="none" strike="noStrike" cap="none">
                <a:solidFill>
                  <a:srgbClr val="A1A1AA"/>
                </a:solidFill>
                <a:latin typeface="Urbanist"/>
                <a:ea typeface="Urbanist"/>
                <a:cs typeface="Urbanist"/>
              </a:rPr>
              <a:t> Prácticum DGTITD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push dir="l"/>
      </p:transition>
    </mc:Choice>
    <mc:Fallback>
      <p:transition spd="fast" advClick="1">
        <p:push dir="l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11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3986481" name="Google Shape;91;p14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8767970" name="Google Shape;92;p14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6334125" y="1709737"/>
            <a:ext cx="5381625" cy="386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464981" name="Google Shape;93;p14"/>
          <p:cNvSpPr txBox="1"/>
          <p:nvPr/>
        </p:nvSpPr>
        <p:spPr bwMode="auto">
          <a:xfrm>
            <a:off x="476250" y="381000"/>
            <a:ext cx="117157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7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</a:rPr>
              <a:t>El </a:t>
            </a:r>
            <a:r>
              <a:rPr lang="en-US" sz="37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</a:rPr>
              <a:t>Problema</a:t>
            </a:r>
            <a:r>
              <a:rPr lang="en-US" sz="37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</a:rPr>
              <a:t> de Origen</a:t>
            </a:r>
            <a:endParaRPr/>
          </a:p>
        </p:txBody>
      </p:sp>
      <p:sp>
        <p:nvSpPr>
          <p:cNvPr id="481755964" name="Google Shape;94;p14"/>
          <p:cNvSpPr txBox="1"/>
          <p:nvPr/>
        </p:nvSpPr>
        <p:spPr bwMode="auto">
          <a:xfrm>
            <a:off x="714375" y="1738312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 i="0" u="none" strike="noStrike" cap="none">
                <a:solidFill>
                  <a:srgbClr val="D4D4D8"/>
                </a:solidFill>
                <a:latin typeface="Urbanist"/>
                <a:ea typeface="Urbanist"/>
                <a:cs typeface="Urbanist"/>
              </a:rPr>
              <a:t>Fuentes Aisladas:</a:t>
            </a:r>
            <a:r>
              <a:rPr lang="en-US" sz="1500" b="0" i="0" u="none" strike="noStrike" cap="none">
                <a:solidFill>
                  <a:srgbClr val="D4D4D8"/>
                </a:solidFill>
                <a:latin typeface="Urbanist"/>
                <a:ea typeface="Urbanist"/>
                <a:cs typeface="Urbanist"/>
              </a:rPr>
              <a:t> El BCE, INEC, Supercias y MINEDUC publican datos vitales, pero en formatos desconectados.</a:t>
            </a:r>
            <a:endParaRPr/>
          </a:p>
        </p:txBody>
      </p:sp>
      <p:sp>
        <p:nvSpPr>
          <p:cNvPr id="266850813" name="Google Shape;95;p14"/>
          <p:cNvSpPr txBox="1"/>
          <p:nvPr/>
        </p:nvSpPr>
        <p:spPr bwMode="auto">
          <a:xfrm>
            <a:off x="714375" y="2462212"/>
            <a:ext cx="51435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 i="0" u="none" strike="noStrike" cap="none">
                <a:solidFill>
                  <a:srgbClr val="D4D4D8"/>
                </a:solidFill>
                <a:latin typeface="Urbanist"/>
                <a:ea typeface="Urbanist"/>
                <a:cs typeface="Urbanist"/>
              </a:rPr>
              <a:t>Dirty Data:</a:t>
            </a:r>
            <a:r>
              <a:rPr lang="en-US" sz="1500" b="0" i="0" u="none" strike="noStrike" cap="none">
                <a:solidFill>
                  <a:srgbClr val="D4D4D8"/>
                </a:solidFill>
                <a:latin typeface="Urbanist"/>
                <a:ea typeface="Urbanist"/>
                <a:cs typeface="Urbanist"/>
              </a:rPr>
              <a:t> Múltiples formatos anómalos, celdas combinadas en Excel, delimitadores rotos y registros con nulos críticos.</a:t>
            </a:r>
            <a:endParaRPr/>
          </a:p>
        </p:txBody>
      </p:sp>
      <p:sp>
        <p:nvSpPr>
          <p:cNvPr id="827698852" name="Google Shape;96;p14"/>
          <p:cNvSpPr txBox="1"/>
          <p:nvPr/>
        </p:nvSpPr>
        <p:spPr bwMode="auto">
          <a:xfrm>
            <a:off x="714375" y="3226887"/>
            <a:ext cx="51435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 i="0" u="none" strike="noStrike" cap="none">
                <a:solidFill>
                  <a:srgbClr val="D4D4D8"/>
                </a:solidFill>
                <a:latin typeface="Urbanist"/>
                <a:ea typeface="Urbanist"/>
                <a:cs typeface="Urbanist"/>
              </a:rPr>
              <a:t>Límites Computacionales:</a:t>
            </a:r>
            <a:r>
              <a:rPr lang="en-US" sz="1500" b="0" i="0" u="none" strike="noStrike" cap="none">
                <a:solidFill>
                  <a:srgbClr val="D4D4D8"/>
                </a:solidFill>
                <a:latin typeface="Urbanist"/>
                <a:ea typeface="Urbanist"/>
                <a:cs typeface="Urbanist"/>
              </a:rPr>
              <a:t> Archivos masivos provenientes de volcados RPA que desbordan la memoria RAM al intentar ser analizados de golpe.</a:t>
            </a:r>
            <a:endParaRPr/>
          </a:p>
        </p:txBody>
      </p:sp>
      <p:sp>
        <p:nvSpPr>
          <p:cNvPr id="513707312" name="Google Shape;97;p14"/>
          <p:cNvSpPr txBox="1"/>
          <p:nvPr/>
        </p:nvSpPr>
        <p:spPr bwMode="auto">
          <a:xfrm>
            <a:off x="714375" y="4255587"/>
            <a:ext cx="51435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 i="0" u="none" strike="noStrike" cap="none">
                <a:solidFill>
                  <a:srgbClr val="D4D4D8"/>
                </a:solidFill>
                <a:latin typeface="Urbanist"/>
                <a:ea typeface="Urbanist"/>
                <a:cs typeface="Urbanist"/>
              </a:rPr>
              <a:t>El Impacto:</a:t>
            </a:r>
            <a:r>
              <a:rPr lang="en-US" sz="1500" b="0" i="0" u="none" strike="noStrike" cap="none">
                <a:solidFill>
                  <a:srgbClr val="D4D4D8"/>
                </a:solidFill>
                <a:latin typeface="Urbanist"/>
                <a:ea typeface="Urbanist"/>
                <a:cs typeface="Urbanist"/>
              </a:rPr>
              <a:t> Es imposible cruzar datos educativos con desempeño económico para tomar decisiones estratégicas en la UTPL.</a:t>
            </a:r>
            <a:endParaRPr/>
          </a:p>
        </p:txBody>
      </p:sp>
      <p:pic>
        <p:nvPicPr>
          <p:cNvPr id="300656145" name="Google Shape;98;p14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6343650" y="1719262"/>
            <a:ext cx="53625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7849622" name="Google Shape;99;p14"/>
          <p:cNvSpPr txBox="1"/>
          <p:nvPr/>
        </p:nvSpPr>
        <p:spPr bwMode="auto">
          <a:xfrm>
            <a:off x="476250" y="1804986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5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</a:rPr>
              <a:t>■</a:t>
            </a:r>
            <a:endParaRPr/>
          </a:p>
        </p:txBody>
      </p:sp>
      <p:sp>
        <p:nvSpPr>
          <p:cNvPr id="763563819" name="Google Shape;100;p14"/>
          <p:cNvSpPr txBox="1"/>
          <p:nvPr/>
        </p:nvSpPr>
        <p:spPr bwMode="auto">
          <a:xfrm>
            <a:off x="476250" y="2528887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5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</a:rPr>
              <a:t>■</a:t>
            </a:r>
            <a:endParaRPr/>
          </a:p>
        </p:txBody>
      </p:sp>
      <p:sp>
        <p:nvSpPr>
          <p:cNvPr id="1160735114" name="Google Shape;101;p14"/>
          <p:cNvSpPr txBox="1"/>
          <p:nvPr/>
        </p:nvSpPr>
        <p:spPr bwMode="auto">
          <a:xfrm>
            <a:off x="476250" y="3252787"/>
            <a:ext cx="76200" cy="161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5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</a:rPr>
              <a:t>■</a:t>
            </a:r>
            <a:endParaRPr/>
          </a:p>
        </p:txBody>
      </p:sp>
      <p:sp>
        <p:nvSpPr>
          <p:cNvPr id="135196417" name="Google Shape;102;p14"/>
          <p:cNvSpPr txBox="1"/>
          <p:nvPr/>
        </p:nvSpPr>
        <p:spPr bwMode="auto">
          <a:xfrm>
            <a:off x="476250" y="4281487"/>
            <a:ext cx="76200" cy="161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5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</a:rPr>
              <a:t>■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push dir="l"/>
      </p:transition>
    </mc:Choice>
    <mc:Fallback>
      <p:transition spd="fast" advClick="1">
        <p:push dir="l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11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34962401" name="Google Shape;107;p15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6601" y="6601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904619" name="Google Shape;108;p15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476250" y="1866900"/>
            <a:ext cx="2667000" cy="355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1363037" name="Google Shape;109;p15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3333750" y="1866900"/>
            <a:ext cx="2667000" cy="355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2371847" name="Google Shape;110;p15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6191250" y="1866900"/>
            <a:ext cx="2667000" cy="355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2470970" name="Google Shape;111;p15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9048750" y="1866900"/>
            <a:ext cx="2667000" cy="355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81282767" name="Google Shape;112;p15"/>
          <p:cNvSpPr txBox="1"/>
          <p:nvPr/>
        </p:nvSpPr>
        <p:spPr bwMode="auto">
          <a:xfrm>
            <a:off x="476250" y="381000"/>
            <a:ext cx="117157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7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</a:rPr>
              <a:t>El </a:t>
            </a:r>
            <a:r>
              <a:rPr lang="en-US" sz="37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</a:rPr>
              <a:t>Stack</a:t>
            </a:r>
            <a:r>
              <a:rPr lang="en-US" sz="37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</a:rPr>
              <a:t> Tecnológico</a:t>
            </a:r>
            <a:endParaRPr/>
          </a:p>
        </p:txBody>
      </p:sp>
      <p:pic>
        <p:nvPicPr>
          <p:cNvPr id="622974277" name="Google Shape;113;p15" descr="image.png"/>
          <p:cNvPicPr/>
          <p:nvPr/>
        </p:nvPicPr>
        <p:blipFill rotWithShape="1">
          <a:blip r:embed="rId7">
            <a:alphaModFix/>
          </a:blip>
          <a:srcRect l="0" t="0" r="0" b="0"/>
          <a:stretch/>
        </p:blipFill>
        <p:spPr bwMode="auto">
          <a:xfrm>
            <a:off x="819150" y="220980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6778467" name="Google Shape;114;p15"/>
          <p:cNvSpPr txBox="1"/>
          <p:nvPr/>
        </p:nvSpPr>
        <p:spPr bwMode="auto">
          <a:xfrm>
            <a:off x="819150" y="3019425"/>
            <a:ext cx="19812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9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</a:rPr>
              <a:t>Python</a:t>
            </a:r>
            <a:endParaRPr/>
          </a:p>
        </p:txBody>
      </p:sp>
      <p:sp>
        <p:nvSpPr>
          <p:cNvPr id="454126863" name="Google Shape;115;p15"/>
          <p:cNvSpPr txBox="1"/>
          <p:nvPr/>
        </p:nvSpPr>
        <p:spPr bwMode="auto">
          <a:xfrm>
            <a:off x="819150" y="3533775"/>
            <a:ext cx="19812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50" b="0" i="0" u="none" strike="noStrike" cap="none">
                <a:solidFill>
                  <a:srgbClr val="A1A1AA"/>
                </a:solidFill>
                <a:latin typeface="Urbanist"/>
                <a:ea typeface="Urbanist"/>
                <a:cs typeface="Urbanist"/>
              </a:rPr>
              <a:t>Uso de Pandas y SQLAlchemy para la extracción, limpieza masiva (Data Cleansing) y transformación de archivos crudos.</a:t>
            </a:r>
            <a:endParaRPr sz="1300"/>
          </a:p>
        </p:txBody>
      </p:sp>
      <p:pic>
        <p:nvPicPr>
          <p:cNvPr id="470292360" name="Google Shape;116;p15" descr="image.png"/>
          <p:cNvPicPr/>
          <p:nvPr/>
        </p:nvPicPr>
        <p:blipFill rotWithShape="1">
          <a:blip r:embed="rId8">
            <a:alphaModFix/>
          </a:blip>
          <a:srcRect l="0" t="0" r="0" b="0"/>
          <a:stretch/>
        </p:blipFill>
        <p:spPr bwMode="auto">
          <a:xfrm>
            <a:off x="3676650" y="220980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0086567" name="Google Shape;117;p15"/>
          <p:cNvSpPr txBox="1"/>
          <p:nvPr/>
        </p:nvSpPr>
        <p:spPr bwMode="auto">
          <a:xfrm>
            <a:off x="3676650" y="3019425"/>
            <a:ext cx="19812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9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</a:rPr>
              <a:t>Prefect</a:t>
            </a:r>
            <a:endParaRPr/>
          </a:p>
        </p:txBody>
      </p:sp>
      <p:sp>
        <p:nvSpPr>
          <p:cNvPr id="1666496812" name="Google Shape;118;p15"/>
          <p:cNvSpPr txBox="1"/>
          <p:nvPr/>
        </p:nvSpPr>
        <p:spPr bwMode="auto">
          <a:xfrm>
            <a:off x="3676650" y="3533775"/>
            <a:ext cx="198120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A1A1AA"/>
                </a:solidFill>
                <a:latin typeface="Urbanist"/>
                <a:ea typeface="Urbanist"/>
                <a:cs typeface="Urbanist"/>
              </a:rPr>
              <a:t>Motor de orquestación de flujos (Pipeline) para asegurar que las tareas se ejecuten en el orden correcto y sin fallos.</a:t>
            </a:r>
            <a:endParaRPr/>
          </a:p>
        </p:txBody>
      </p:sp>
      <p:pic>
        <p:nvPicPr>
          <p:cNvPr id="1845932399" name="Google Shape;119;p15" descr="image.png"/>
          <p:cNvPicPr/>
          <p:nvPr/>
        </p:nvPicPr>
        <p:blipFill rotWithShape="1">
          <a:blip r:embed="rId9">
            <a:alphaModFix/>
          </a:blip>
          <a:srcRect l="0" t="0" r="0" b="0"/>
          <a:stretch/>
        </p:blipFill>
        <p:spPr bwMode="auto">
          <a:xfrm>
            <a:off x="6534150" y="220980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8446168" name="Google Shape;120;p15"/>
          <p:cNvSpPr txBox="1"/>
          <p:nvPr/>
        </p:nvSpPr>
        <p:spPr bwMode="auto">
          <a:xfrm>
            <a:off x="6534150" y="3019425"/>
            <a:ext cx="19812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9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</a:rPr>
              <a:t>PostgreSQL</a:t>
            </a:r>
            <a:endParaRPr/>
          </a:p>
        </p:txBody>
      </p:sp>
      <p:sp>
        <p:nvSpPr>
          <p:cNvPr id="190563721" name="Google Shape;121;p15"/>
          <p:cNvSpPr txBox="1"/>
          <p:nvPr/>
        </p:nvSpPr>
        <p:spPr bwMode="auto">
          <a:xfrm>
            <a:off x="6534150" y="3533775"/>
            <a:ext cx="19812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50" b="0" i="0" u="none" strike="noStrike" cap="none">
                <a:solidFill>
                  <a:srgbClr val="A1A1AA"/>
                </a:solidFill>
                <a:latin typeface="Urbanist"/>
                <a:ea typeface="Urbanist"/>
                <a:cs typeface="Urbanist"/>
              </a:rPr>
              <a:t>Base de datos relacional (Dockerizada) para almacenar el Esquema Estrella, forzar integridad referencial y crear las Vistas Gold.</a:t>
            </a:r>
            <a:endParaRPr sz="1300"/>
          </a:p>
        </p:txBody>
      </p:sp>
      <p:pic>
        <p:nvPicPr>
          <p:cNvPr id="1690931039" name="Google Shape;122;p15" descr="image.png"/>
          <p:cNvPicPr/>
          <p:nvPr/>
        </p:nvPicPr>
        <p:blipFill rotWithShape="1">
          <a:blip r:embed="rId8">
            <a:alphaModFix/>
          </a:blip>
          <a:srcRect l="0" t="0" r="0" b="0"/>
          <a:stretch/>
        </p:blipFill>
        <p:spPr bwMode="auto">
          <a:xfrm>
            <a:off x="9391650" y="220980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386517" name="Google Shape;123;p15"/>
          <p:cNvSpPr txBox="1"/>
          <p:nvPr/>
        </p:nvSpPr>
        <p:spPr bwMode="auto">
          <a:xfrm>
            <a:off x="9391650" y="3019425"/>
            <a:ext cx="19812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9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</a:rPr>
              <a:t>Metabase</a:t>
            </a:r>
            <a:endParaRPr/>
          </a:p>
        </p:txBody>
      </p:sp>
      <p:sp>
        <p:nvSpPr>
          <p:cNvPr id="504174691" name="Google Shape;124;p15"/>
          <p:cNvSpPr txBox="1"/>
          <p:nvPr/>
        </p:nvSpPr>
        <p:spPr bwMode="auto">
          <a:xfrm>
            <a:off x="9391650" y="3533775"/>
            <a:ext cx="198120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A1A1AA"/>
                </a:solidFill>
                <a:latin typeface="Urbanist"/>
                <a:ea typeface="Urbanist"/>
                <a:cs typeface="Urbanist"/>
              </a:rPr>
              <a:t>Herramienta de Business Intelligence conectada a las vistas limpias para generar el dashboard interactivo final.</a:t>
            </a:r>
            <a:endParaRPr/>
          </a:p>
        </p:txBody>
      </p:sp>
      <p:pic>
        <p:nvPicPr>
          <p:cNvPr id="249928342" name="Google Shape;125;p15" descr="image.png"/>
          <p:cNvPicPr/>
          <p:nvPr/>
        </p:nvPicPr>
        <p:blipFill rotWithShape="1">
          <a:blip r:embed="rId10">
            <a:alphaModFix/>
          </a:blip>
          <a:srcRect l="0" t="0" r="0" b="0"/>
          <a:stretch/>
        </p:blipFill>
        <p:spPr bwMode="auto">
          <a:xfrm>
            <a:off x="981075" y="2352675"/>
            <a:ext cx="2476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1630526" name="Google Shape;126;p15" descr="image.png"/>
          <p:cNvPicPr/>
          <p:nvPr/>
        </p:nvPicPr>
        <p:blipFill rotWithShape="1">
          <a:blip r:embed="rId11">
            <a:alphaModFix/>
          </a:blip>
          <a:srcRect l="0" t="0" r="0" b="0"/>
          <a:stretch/>
        </p:blipFill>
        <p:spPr bwMode="auto">
          <a:xfrm>
            <a:off x="3781425" y="2352675"/>
            <a:ext cx="361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4646491" name="Google Shape;127;p15" descr="image.png"/>
          <p:cNvPicPr/>
          <p:nvPr/>
        </p:nvPicPr>
        <p:blipFill rotWithShape="1">
          <a:blip r:embed="rId12">
            <a:alphaModFix/>
          </a:blip>
          <a:srcRect l="0" t="0" r="0" b="0"/>
          <a:stretch/>
        </p:blipFill>
        <p:spPr bwMode="auto">
          <a:xfrm>
            <a:off x="6696075" y="2352675"/>
            <a:ext cx="2476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03952" name="Google Shape;128;p15" descr="image.png"/>
          <p:cNvPicPr/>
          <p:nvPr/>
        </p:nvPicPr>
        <p:blipFill rotWithShape="1">
          <a:blip r:embed="rId13">
            <a:alphaModFix/>
          </a:blip>
          <a:srcRect l="0" t="0" r="0" b="0"/>
          <a:stretch/>
        </p:blipFill>
        <p:spPr bwMode="auto">
          <a:xfrm>
            <a:off x="9515475" y="2352675"/>
            <a:ext cx="3238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push dir="l"/>
      </p:transition>
    </mc:Choice>
    <mc:Fallback>
      <p:transition spd="fast" advClick="1">
        <p:push dir="l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11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22704215" name="Google Shape;133;p16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560810" name="Google Shape;134;p16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476250" y="1381125"/>
            <a:ext cx="5381625" cy="452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5083700" name="Google Shape;135;p16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6334125" y="1381125"/>
            <a:ext cx="5381625" cy="4524375"/>
          </a:xfrm>
          <a:prstGeom prst="rect">
            <a:avLst/>
          </a:prstGeom>
          <a:noFill/>
          <a:ln>
            <a:noFill/>
          </a:ln>
        </p:spPr>
      </p:pic>
      <p:sp>
        <p:nvSpPr>
          <p:cNvPr id="790863246" name="Google Shape;136;p16"/>
          <p:cNvSpPr txBox="1"/>
          <p:nvPr/>
        </p:nvSpPr>
        <p:spPr bwMode="auto">
          <a:xfrm>
            <a:off x="476250" y="381000"/>
            <a:ext cx="117157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7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</a:rPr>
              <a:t>El Motor: </a:t>
            </a:r>
            <a:r>
              <a:rPr lang="en-US" sz="37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</a:rPr>
              <a:t>Prefect y Limpieza</a:t>
            </a:r>
            <a:endParaRPr/>
          </a:p>
        </p:txBody>
      </p:sp>
      <p:sp>
        <p:nvSpPr>
          <p:cNvPr id="2114221828" name="Google Shape;137;p16"/>
          <p:cNvSpPr txBox="1"/>
          <p:nvPr/>
        </p:nvSpPr>
        <p:spPr bwMode="auto">
          <a:xfrm>
            <a:off x="866775" y="1771650"/>
            <a:ext cx="4830603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2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</a:rPr>
              <a:t>1. Procesamiento RPA Masivo</a:t>
            </a:r>
            <a:endParaRPr/>
          </a:p>
        </p:txBody>
      </p:sp>
      <p:sp>
        <p:nvSpPr>
          <p:cNvPr id="168086129" name="Google Shape;138;p16"/>
          <p:cNvSpPr txBox="1"/>
          <p:nvPr/>
        </p:nvSpPr>
        <p:spPr bwMode="auto">
          <a:xfrm>
            <a:off x="866775" y="2266950"/>
            <a:ext cx="4600575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D4D4D8"/>
                </a:solidFill>
                <a:latin typeface="Urbanist"/>
                <a:ea typeface="Urbanist"/>
                <a:cs typeface="Urbanist"/>
              </a:rPr>
              <a:t>Para dominar el gigantesco archivo SQL de la Superintendencia de Compañías, se diseñó un algoritmo de lectura </a:t>
            </a:r>
            <a:r>
              <a:rPr lang="en-US" sz="1500" b="1" i="0" u="none" strike="noStrike" cap="none">
                <a:solidFill>
                  <a:srgbClr val="D4D4D8"/>
                </a:solidFill>
                <a:latin typeface="Urbanist"/>
                <a:ea typeface="Urbanist"/>
                <a:cs typeface="Urbanist"/>
              </a:rPr>
              <a:t>por lotes (Chunks)</a:t>
            </a:r>
            <a:r>
              <a:rPr lang="en-US" sz="1500" b="0" i="0" u="none" strike="noStrike" cap="none">
                <a:solidFill>
                  <a:srgbClr val="D4D4D8"/>
                </a:solidFill>
                <a:latin typeface="Urbanist"/>
                <a:ea typeface="Urbanist"/>
                <a:cs typeface="Urbanist"/>
              </a:rPr>
              <a:t> mediante Lazy Loading. Esto permitió leer y extraer los datos JSON línea por línea con Expresiones Regulares, salvando la memoria RAM.</a:t>
            </a:r>
            <a:endParaRPr/>
          </a:p>
        </p:txBody>
      </p:sp>
      <p:sp>
        <p:nvSpPr>
          <p:cNvPr id="1475783622" name="Google Shape;139;p16"/>
          <p:cNvSpPr txBox="1"/>
          <p:nvPr/>
        </p:nvSpPr>
        <p:spPr bwMode="auto">
          <a:xfrm>
            <a:off x="6724649" y="1771650"/>
            <a:ext cx="4830603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2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</a:rPr>
              <a:t>2. Orquestación Automatizada</a:t>
            </a:r>
            <a:endParaRPr/>
          </a:p>
        </p:txBody>
      </p:sp>
      <p:sp>
        <p:nvSpPr>
          <p:cNvPr id="1077630119" name="Google Shape;140;p16"/>
          <p:cNvSpPr txBox="1"/>
          <p:nvPr/>
        </p:nvSpPr>
        <p:spPr bwMode="auto">
          <a:xfrm>
            <a:off x="6724649" y="2266950"/>
            <a:ext cx="460057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D4D4D8"/>
                </a:solidFill>
                <a:latin typeface="Urbanist"/>
                <a:ea typeface="Urbanist"/>
                <a:cs typeface="Urbanist"/>
              </a:rPr>
              <a:t>Todos los scripts de limpieza (INEC, MINEDUC, BCE) se unificaron bajo </a:t>
            </a:r>
            <a:r>
              <a:rPr lang="en-US" sz="1500" b="1" i="0" u="none" strike="noStrike" cap="none">
                <a:solidFill>
                  <a:srgbClr val="D4D4D8"/>
                </a:solidFill>
                <a:latin typeface="Urbanist"/>
                <a:ea typeface="Urbanist"/>
                <a:cs typeface="Urbanist"/>
              </a:rPr>
              <a:t>Prefect</a:t>
            </a:r>
            <a:r>
              <a:rPr lang="en-US" sz="1500" b="0" i="0" u="none" strike="noStrike" cap="none">
                <a:solidFill>
                  <a:srgbClr val="D4D4D8"/>
                </a:solidFill>
                <a:latin typeface="Urbanist"/>
                <a:ea typeface="Urbanist"/>
                <a:cs typeface="Urbanist"/>
              </a:rPr>
              <a:t>. El orquestador asegura que primero se creen las dimensiones base (Tiempo y Provincia) antes de inyectar las tablas de hechos masivas, evitando errores de llaves foráneas.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push dir="l"/>
      </p:transition>
    </mc:Choice>
    <mc:Fallback>
      <p:transition spd="fast" advClick="1">
        <p:push dir="l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11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12012690" name="Google Shape;145;p17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5968502" name="Google Shape;146;p17"/>
          <p:cNvSpPr txBox="1"/>
          <p:nvPr/>
        </p:nvSpPr>
        <p:spPr bwMode="auto">
          <a:xfrm>
            <a:off x="571500" y="571500"/>
            <a:ext cx="5550693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7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</a:rPr>
              <a:t>El Cerebro: </a:t>
            </a:r>
            <a:r>
              <a:rPr lang="en-US" sz="37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</a:rPr>
              <a:t>Capa Gold</a:t>
            </a:r>
            <a:endParaRPr/>
          </a:p>
        </p:txBody>
      </p:sp>
      <p:pic>
        <p:nvPicPr>
          <p:cNvPr id="601908403" name="Google Shape;147;p17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2942673" name="Google Shape;148;p17"/>
          <p:cNvSpPr txBox="1"/>
          <p:nvPr/>
        </p:nvSpPr>
        <p:spPr bwMode="auto">
          <a:xfrm>
            <a:off x="571500" y="1776412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D4D4D8"/>
                </a:solidFill>
                <a:latin typeface="Urbanist"/>
                <a:ea typeface="Urbanist"/>
                <a:cs typeface="Urbanist"/>
              </a:rPr>
              <a:t>Una vez limpios, los datos alimentan un </a:t>
            </a:r>
            <a:r>
              <a:rPr lang="en-US" sz="1500" b="1" i="0" u="none" strike="noStrike" cap="none">
                <a:solidFill>
                  <a:srgbClr val="D4D4D8"/>
                </a:solidFill>
                <a:latin typeface="Urbanist"/>
                <a:ea typeface="Urbanist"/>
                <a:cs typeface="Urbanist"/>
              </a:rPr>
              <a:t>Esquema en Estrella</a:t>
            </a:r>
            <a:r>
              <a:rPr lang="en-US" sz="1500" b="0" i="0" u="none" strike="noStrike" cap="none">
                <a:solidFill>
                  <a:srgbClr val="D4D4D8"/>
                </a:solidFill>
                <a:latin typeface="Urbanist"/>
                <a:ea typeface="Urbanist"/>
                <a:cs typeface="Urbanist"/>
              </a:rPr>
              <a:t> en PostgreSQL. Sin embargo, cruzar estas tablas masivas directamente generaría productos cartesianos destructivos.</a:t>
            </a:r>
            <a:endParaRPr/>
          </a:p>
        </p:txBody>
      </p:sp>
      <p:sp>
        <p:nvSpPr>
          <p:cNvPr id="1736518443" name="Google Shape;149;p17"/>
          <p:cNvSpPr txBox="1"/>
          <p:nvPr/>
        </p:nvSpPr>
        <p:spPr bwMode="auto">
          <a:xfrm>
            <a:off x="809625" y="2824162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 i="0" u="none" strike="noStrike" cap="none">
                <a:solidFill>
                  <a:srgbClr val="D4D4D8"/>
                </a:solidFill>
                <a:latin typeface="Urbanist"/>
                <a:ea typeface="Urbanist"/>
                <a:cs typeface="Urbanist"/>
              </a:rPr>
              <a:t>Pre-agregación Segura:</a:t>
            </a:r>
            <a:r>
              <a:rPr lang="en-US" sz="1500" b="0" i="0" u="none" strike="noStrike" cap="none">
                <a:solidFill>
                  <a:srgbClr val="D4D4D8"/>
                </a:solidFill>
                <a:latin typeface="Urbanist"/>
                <a:ea typeface="Urbanist"/>
                <a:cs typeface="Urbanist"/>
              </a:rPr>
              <a:t> Se crearon Vistas SQL (Capa Gold) con Expresiones de Tabla Comunes (CTE) para sumarizar los datos por provincia de forma aislada.</a:t>
            </a:r>
            <a:endParaRPr/>
          </a:p>
        </p:txBody>
      </p:sp>
      <p:sp>
        <p:nvSpPr>
          <p:cNvPr id="117686045" name="Google Shape;150;p17"/>
          <p:cNvSpPr txBox="1"/>
          <p:nvPr/>
        </p:nvSpPr>
        <p:spPr bwMode="auto">
          <a:xfrm>
            <a:off x="809625" y="385286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 i="0" u="none" strike="noStrike" cap="none">
                <a:solidFill>
                  <a:srgbClr val="D4D4D8"/>
                </a:solidFill>
                <a:latin typeface="Urbanist"/>
                <a:ea typeface="Urbanist"/>
                <a:cs typeface="Urbanist"/>
              </a:rPr>
              <a:t>Cruce Final:</a:t>
            </a:r>
            <a:r>
              <a:rPr lang="en-US" sz="1500" b="0" i="0" u="none" strike="noStrike" cap="none">
                <a:solidFill>
                  <a:srgbClr val="D4D4D8"/>
                </a:solidFill>
                <a:latin typeface="Urbanist"/>
                <a:ea typeface="Urbanist"/>
                <a:cs typeface="Urbanist"/>
              </a:rPr>
              <a:t> Solo las sumatorias provinciales se cruzan entre sí.</a:t>
            </a:r>
            <a:endParaRPr/>
          </a:p>
        </p:txBody>
      </p:sp>
      <p:sp>
        <p:nvSpPr>
          <p:cNvPr id="1098012154" name="Google Shape;151;p17"/>
          <p:cNvSpPr txBox="1"/>
          <p:nvPr/>
        </p:nvSpPr>
        <p:spPr bwMode="auto">
          <a:xfrm>
            <a:off x="809625" y="4576762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 i="0" u="none" strike="noStrike" cap="none">
                <a:solidFill>
                  <a:srgbClr val="D4D4D8"/>
                </a:solidFill>
                <a:latin typeface="Urbanist"/>
                <a:ea typeface="Urbanist"/>
                <a:cs typeface="Urbanist"/>
              </a:rPr>
              <a:t>Métricas Calculadas:</a:t>
            </a:r>
            <a:r>
              <a:rPr lang="en-US" sz="1500" b="0" i="0" u="none" strike="noStrike" cap="none">
                <a:solidFill>
                  <a:srgbClr val="D4D4D8"/>
                </a:solidFill>
                <a:latin typeface="Urbanist"/>
                <a:ea typeface="Urbanist"/>
                <a:cs typeface="Urbanist"/>
              </a:rPr>
              <a:t> El motor de base de datos resuelve operaciones complejas como el Ratio Laboral, protegiendo con </a:t>
            </a:r>
            <a:r>
              <a:rPr lang="en-US" sz="1500" b="0" i="0" u="none" strike="noStrike" cap="none">
                <a:solidFill>
                  <a:srgbClr val="A3E635"/>
                </a:solidFill>
                <a:latin typeface="Urbanist"/>
                <a:ea typeface="Urbanist"/>
                <a:cs typeface="Urbanist"/>
              </a:rPr>
              <a:t>NULLIF</a:t>
            </a:r>
            <a:r>
              <a:rPr lang="en-US" sz="1500" b="0" i="0" u="none" strike="noStrike" cap="none">
                <a:solidFill>
                  <a:srgbClr val="D4D4D8"/>
                </a:solidFill>
                <a:latin typeface="Urbanist"/>
                <a:ea typeface="Urbanist"/>
                <a:cs typeface="Urbanist"/>
              </a:rPr>
              <a:t> las divisiones por cero.</a:t>
            </a:r>
            <a:endParaRPr/>
          </a:p>
        </p:txBody>
      </p:sp>
      <p:sp>
        <p:nvSpPr>
          <p:cNvPr id="2088754462" name="Google Shape;152;p17"/>
          <p:cNvSpPr txBox="1"/>
          <p:nvPr/>
        </p:nvSpPr>
        <p:spPr bwMode="auto">
          <a:xfrm>
            <a:off x="571500" y="2890837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5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</a:rPr>
              <a:t>■</a:t>
            </a:r>
            <a:endParaRPr/>
          </a:p>
        </p:txBody>
      </p:sp>
      <p:sp>
        <p:nvSpPr>
          <p:cNvPr id="1989746396" name="Google Shape;153;p17"/>
          <p:cNvSpPr txBox="1"/>
          <p:nvPr/>
        </p:nvSpPr>
        <p:spPr bwMode="auto">
          <a:xfrm>
            <a:off x="571500" y="3919537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5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</a:rPr>
              <a:t>■</a:t>
            </a:r>
            <a:endParaRPr/>
          </a:p>
        </p:txBody>
      </p:sp>
      <p:sp>
        <p:nvSpPr>
          <p:cNvPr id="941993201" name="Google Shape;154;p17"/>
          <p:cNvSpPr txBox="1"/>
          <p:nvPr/>
        </p:nvSpPr>
        <p:spPr bwMode="auto">
          <a:xfrm>
            <a:off x="571500" y="4643437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5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</a:rPr>
              <a:t>■</a:t>
            </a:r>
            <a:endParaRPr/>
          </a:p>
        </p:txBody>
      </p:sp>
      <p:pic>
        <p:nvPicPr>
          <p:cNvPr id="630191095" name="Google Shape;155;p17"/>
          <p:cNvPicPr/>
          <p:nvPr/>
        </p:nvPicPr>
        <p:blipFill rotWithShape="1">
          <a:blip r:embed="rId5">
            <a:alphaModFix/>
          </a:blip>
          <a:srcRect l="27847" t="0" r="20113" b="0"/>
          <a:stretch/>
        </p:blipFill>
        <p:spPr bwMode="auto">
          <a:xfrm>
            <a:off x="6334125" y="0"/>
            <a:ext cx="585787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push dir="l"/>
      </p:transition>
    </mc:Choice>
    <mc:Fallback>
      <p:transition spd="fast" advClick="1">
        <p:push dir="l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11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2238862" name="Google Shape;160;p18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6544607" name="Google Shape;161;p18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476250" y="2609850"/>
            <a:ext cx="3619500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462592" name="Google Shape;162;p18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4286250" y="2609850"/>
            <a:ext cx="3619500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9596333" name="Google Shape;163;p18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8096250" y="2609850"/>
            <a:ext cx="3619500" cy="2981325"/>
          </a:xfrm>
          <a:prstGeom prst="rect">
            <a:avLst/>
          </a:prstGeom>
          <a:noFill/>
          <a:ln>
            <a:noFill/>
          </a:ln>
        </p:spPr>
      </p:pic>
      <p:sp>
        <p:nvSpPr>
          <p:cNvPr id="72203162" name="Google Shape;164;p18"/>
          <p:cNvSpPr txBox="1"/>
          <p:nvPr/>
        </p:nvSpPr>
        <p:spPr bwMode="auto">
          <a:xfrm>
            <a:off x="476250" y="381000"/>
            <a:ext cx="117157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7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</a:rPr>
              <a:t>Las 3 </a:t>
            </a:r>
            <a:r>
              <a:rPr lang="en-US" sz="37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</a:rPr>
              <a:t>Preguntas</a:t>
            </a:r>
            <a:r>
              <a:rPr lang="en-US" sz="37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</a:rPr>
              <a:t> Clave</a:t>
            </a:r>
            <a:endParaRPr/>
          </a:p>
        </p:txBody>
      </p:sp>
      <p:sp>
        <p:nvSpPr>
          <p:cNvPr id="123481039" name="Google Shape;165;p18"/>
          <p:cNvSpPr txBox="1"/>
          <p:nvPr/>
        </p:nvSpPr>
        <p:spPr bwMode="auto">
          <a:xfrm>
            <a:off x="476250" y="1695450"/>
            <a:ext cx="11239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50" b="0" i="0" u="none" strike="noStrike" cap="none">
                <a:solidFill>
                  <a:srgbClr val="D4D4D8"/>
                </a:solidFill>
                <a:latin typeface="Urbanist"/>
                <a:ea typeface="Urbanist"/>
                <a:cs typeface="Urbanist"/>
              </a:rPr>
              <a:t>Con la infraestructura de datos lista y conectada, el objetivo del proyecto se reduce a responder visualmente tres incógnitas fundamentales:</a:t>
            </a:r>
            <a:endParaRPr/>
          </a:p>
        </p:txBody>
      </p:sp>
      <p:pic>
        <p:nvPicPr>
          <p:cNvPr id="487290516" name="Google Shape;166;p18" descr="image.png"/>
          <p:cNvPicPr/>
          <p:nvPr/>
        </p:nvPicPr>
        <p:blipFill rotWithShape="1">
          <a:blip r:embed="rId7">
            <a:alphaModFix/>
          </a:blip>
          <a:srcRect l="0" t="0" r="0" b="0"/>
          <a:stretch/>
        </p:blipFill>
        <p:spPr bwMode="auto">
          <a:xfrm>
            <a:off x="819150" y="29527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15990" name="Google Shape;167;p18"/>
          <p:cNvSpPr txBox="1"/>
          <p:nvPr/>
        </p:nvSpPr>
        <p:spPr bwMode="auto">
          <a:xfrm>
            <a:off x="819150" y="3762375"/>
            <a:ext cx="2933699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</a:rPr>
              <a:t>1. Ciclo Económico</a:t>
            </a:r>
            <a:endParaRPr/>
          </a:p>
        </p:txBody>
      </p:sp>
      <p:sp>
        <p:nvSpPr>
          <p:cNvPr id="1461081389" name="Google Shape;168;p18"/>
          <p:cNvSpPr txBox="1"/>
          <p:nvPr/>
        </p:nvSpPr>
        <p:spPr bwMode="auto">
          <a:xfrm>
            <a:off x="819150" y="4219575"/>
            <a:ext cx="2933699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A1A1AA"/>
                </a:solidFill>
                <a:latin typeface="Urbanist"/>
                <a:ea typeface="Urbanist"/>
                <a:cs typeface="Urbanist"/>
              </a:rPr>
              <a:t>¿Cuál ha sido la evolución real del PIB per cápita y en qué etapas de recesión o expansión nos encontramos?</a:t>
            </a:r>
            <a:endParaRPr/>
          </a:p>
        </p:txBody>
      </p:sp>
      <p:pic>
        <p:nvPicPr>
          <p:cNvPr id="2020730918" name="Google Shape;169;p18" descr="image.png"/>
          <p:cNvPicPr/>
          <p:nvPr/>
        </p:nvPicPr>
        <p:blipFill rotWithShape="1">
          <a:blip r:embed="rId8">
            <a:alphaModFix/>
          </a:blip>
          <a:srcRect l="0" t="0" r="0" b="0"/>
          <a:stretch/>
        </p:blipFill>
        <p:spPr bwMode="auto">
          <a:xfrm>
            <a:off x="4629150" y="29527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41289" name="Google Shape;170;p18"/>
          <p:cNvSpPr txBox="1"/>
          <p:nvPr/>
        </p:nvSpPr>
        <p:spPr bwMode="auto">
          <a:xfrm>
            <a:off x="4629150" y="3762375"/>
            <a:ext cx="2933699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</a:rPr>
              <a:t>2. Riqueza vs Empleo</a:t>
            </a:r>
            <a:endParaRPr/>
          </a:p>
        </p:txBody>
      </p:sp>
      <p:sp>
        <p:nvSpPr>
          <p:cNvPr id="2120917029" name="Google Shape;171;p18"/>
          <p:cNvSpPr txBox="1"/>
          <p:nvPr/>
        </p:nvSpPr>
        <p:spPr bwMode="auto">
          <a:xfrm>
            <a:off x="4629150" y="4219575"/>
            <a:ext cx="2933699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A1A1AA"/>
                </a:solidFill>
                <a:latin typeface="Urbanist"/>
                <a:ea typeface="Urbanist"/>
                <a:cs typeface="Urbanist"/>
              </a:rPr>
              <a:t>¿En qué provincias se concentra el oligopolio de ingresos corporativos frente a la tasa nacional de desempleo?</a:t>
            </a:r>
            <a:endParaRPr/>
          </a:p>
        </p:txBody>
      </p:sp>
      <p:pic>
        <p:nvPicPr>
          <p:cNvPr id="1041798249" name="Google Shape;172;p18" descr="image.png"/>
          <p:cNvPicPr/>
          <p:nvPr/>
        </p:nvPicPr>
        <p:blipFill rotWithShape="1">
          <a:blip r:embed="rId9">
            <a:alphaModFix/>
          </a:blip>
          <a:srcRect l="0" t="0" r="0" b="0"/>
          <a:stretch/>
        </p:blipFill>
        <p:spPr bwMode="auto">
          <a:xfrm>
            <a:off x="8439150" y="29527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9265365" name="Google Shape;173;p18"/>
          <p:cNvSpPr txBox="1"/>
          <p:nvPr/>
        </p:nvSpPr>
        <p:spPr bwMode="auto">
          <a:xfrm>
            <a:off x="8439150" y="3762375"/>
            <a:ext cx="2933699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</a:rPr>
              <a:t>3. Fuga de Talentos</a:t>
            </a:r>
            <a:endParaRPr/>
          </a:p>
        </p:txBody>
      </p:sp>
      <p:sp>
        <p:nvSpPr>
          <p:cNvPr id="427141286" name="Google Shape;174;p18"/>
          <p:cNvSpPr txBox="1"/>
          <p:nvPr/>
        </p:nvSpPr>
        <p:spPr bwMode="auto">
          <a:xfrm>
            <a:off x="8439150" y="4219575"/>
            <a:ext cx="2933699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A1A1AA"/>
                </a:solidFill>
                <a:latin typeface="Urbanist"/>
                <a:ea typeface="Urbanist"/>
                <a:cs typeface="Urbanist"/>
              </a:rPr>
              <a:t>¿Qué provincias gradúan miles de estudiantes pero carecen de empresas para absorberlos?</a:t>
            </a:r>
            <a:endParaRPr/>
          </a:p>
        </p:txBody>
      </p:sp>
      <p:pic>
        <p:nvPicPr>
          <p:cNvPr id="1698744130" name="Google Shape;175;p18" descr="image.png"/>
          <p:cNvPicPr/>
          <p:nvPr/>
        </p:nvPicPr>
        <p:blipFill rotWithShape="1">
          <a:blip r:embed="rId10">
            <a:alphaModFix/>
          </a:blip>
          <a:srcRect l="0" t="0" r="0" b="0"/>
          <a:stretch/>
        </p:blipFill>
        <p:spPr bwMode="auto">
          <a:xfrm>
            <a:off x="962025" y="3095625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8959780" name="Google Shape;176;p18" descr="image.png"/>
          <p:cNvPicPr/>
          <p:nvPr/>
        </p:nvPicPr>
        <p:blipFill rotWithShape="1">
          <a:blip r:embed="rId11">
            <a:alphaModFix/>
          </a:blip>
          <a:srcRect l="0" t="0" r="0" b="0"/>
          <a:stretch/>
        </p:blipFill>
        <p:spPr bwMode="auto">
          <a:xfrm>
            <a:off x="4733925" y="3095625"/>
            <a:ext cx="361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7240149" name="Google Shape;177;p18" descr="image.png"/>
          <p:cNvPicPr/>
          <p:nvPr/>
        </p:nvPicPr>
        <p:blipFill rotWithShape="1">
          <a:blip r:embed="rId12">
            <a:alphaModFix/>
          </a:blip>
          <a:srcRect l="0" t="0" r="0" b="0"/>
          <a:stretch/>
        </p:blipFill>
        <p:spPr bwMode="auto">
          <a:xfrm>
            <a:off x="8543925" y="3095625"/>
            <a:ext cx="3619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push dir="l"/>
      </p:transition>
    </mc:Choice>
    <mc:Fallback>
      <p:transition spd="fast" advClick="1">
        <p:push dir="l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11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7125805" name="Google Shape;182;p19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9495170" name="Google Shape;183;p19"/>
          <p:cNvSpPr txBox="1"/>
          <p:nvPr/>
        </p:nvSpPr>
        <p:spPr bwMode="auto">
          <a:xfrm>
            <a:off x="238125" y="1800225"/>
            <a:ext cx="11715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</a:rPr>
              <a:t>El Dashboard Interactivo</a:t>
            </a:r>
            <a:endParaRPr/>
          </a:p>
        </p:txBody>
      </p:sp>
      <p:sp>
        <p:nvSpPr>
          <p:cNvPr id="449348984" name="Google Shape;184;p19"/>
          <p:cNvSpPr txBox="1"/>
          <p:nvPr/>
        </p:nvSpPr>
        <p:spPr bwMode="auto">
          <a:xfrm>
            <a:off x="476250" y="2905125"/>
            <a:ext cx="11239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>
                <a:solidFill>
                  <a:srgbClr val="A3E635"/>
                </a:solidFill>
                <a:latin typeface="Urbanist"/>
                <a:ea typeface="Urbanist"/>
                <a:cs typeface="Urbanist"/>
              </a:rPr>
              <a:t>Demostración en vivo: Business Intelligence en Metabase</a:t>
            </a:r>
            <a:endParaRPr/>
          </a:p>
        </p:txBody>
      </p:sp>
      <p:pic>
        <p:nvPicPr>
          <p:cNvPr id="1065941062" name="Google Shape;185;p19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5667375" y="3724275"/>
            <a:ext cx="85725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push dir="l"/>
      </p:transition>
    </mc:Choice>
    <mc:Fallback>
      <p:transition spd="fast" advClick="1">
        <p:push dir="l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11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0738639" name="Google Shape;190;p20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516882" name="Google Shape;191;p20"/>
          <p:cNvSpPr txBox="1"/>
          <p:nvPr/>
        </p:nvSpPr>
        <p:spPr bwMode="auto">
          <a:xfrm>
            <a:off x="238050" y="2483600"/>
            <a:ext cx="11715900" cy="15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8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4900" b="1">
                <a:solidFill>
                  <a:srgbClr val="38BDF8"/>
                </a:solidFill>
                <a:latin typeface="Urbanist"/>
                <a:ea typeface="Urbanist"/>
                <a:cs typeface="Urbanist"/>
              </a:rPr>
              <a:t>MUCHAS GRACIAS</a:t>
            </a:r>
            <a:endParaRPr sz="4900" b="1">
              <a:solidFill>
                <a:srgbClr val="38BDF8"/>
              </a:solidFill>
              <a:latin typeface="Urbanist"/>
              <a:ea typeface="Urbanist"/>
              <a:cs typeface="Urbanist"/>
            </a:endParaRPr>
          </a:p>
          <a:p>
            <a:pPr marL="0" lvl="0" indent="0" algn="ctr" rtl="0">
              <a:lnSpc>
                <a:spcPct val="10998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/>
            </a:pPr>
            <a:r>
              <a:rPr lang="en-US" sz="4900" b="1">
                <a:solidFill>
                  <a:srgbClr val="F5F5F5"/>
                </a:solidFill>
                <a:latin typeface="Urbanist"/>
                <a:ea typeface="Urbanist"/>
                <a:cs typeface="Urbanist"/>
              </a:rPr>
              <a:t>POR ATENDER</a:t>
            </a:r>
            <a:endParaRPr sz="4900" b="1">
              <a:solidFill>
                <a:srgbClr val="38BDF8"/>
              </a:solidFill>
              <a:latin typeface="Urbanist"/>
              <a:ea typeface="Urbanist"/>
              <a:cs typeface="Urbanist"/>
            </a:endParaRPr>
          </a:p>
        </p:txBody>
      </p:sp>
      <p:sp>
        <p:nvSpPr>
          <p:cNvPr id="1232289446" name="Google Shape;192;p20"/>
          <p:cNvSpPr txBox="1"/>
          <p:nvPr/>
        </p:nvSpPr>
        <p:spPr bwMode="auto">
          <a:xfrm>
            <a:off x="476250" y="4142025"/>
            <a:ext cx="112395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50" b="0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</a:rPr>
              <a:t>Expositor: Lucas Darío Jumbo Granda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</a:br>
            <a:r>
              <a:rPr lang="en-US" sz="1650" b="0" i="0" u="none" strike="noStrike" cap="none">
                <a:solidFill>
                  <a:srgbClr val="A1A1AA"/>
                </a:solidFill>
                <a:latin typeface="Urbanist"/>
                <a:ea typeface="Urbanist"/>
                <a:cs typeface="Urbanist"/>
              </a:rPr>
              <a:t> Prácticum DGTITD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push dir="l"/>
      </p:transition>
    </mc:Choice>
    <mc:Fallback>
      <p:transition spd="fast" advClick="1">
        <p:push dir="l"/>
      </p:transition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</cp:coreProperties>
</file>